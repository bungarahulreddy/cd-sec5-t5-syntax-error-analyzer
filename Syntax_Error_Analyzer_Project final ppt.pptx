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731520"/>
            <a:ext cx="1097280" cy="1097280"/>
          </a:xfrm>
          <a:prstGeom prst="ellipse">
            <a:avLst/>
          </a:prstGeom>
          <a:solidFill>
            <a:srgbClr val="28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645920"/>
            <a:ext cx="502920" cy="502920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35440" y="2011680"/>
            <a:ext cx="320040" cy="320040"/>
          </a:xfrm>
          <a:prstGeom prst="ellipse">
            <a:avLst/>
          </a:prstGeom>
          <a:solidFill>
            <a:srgbClr val="3FB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2743200"/>
            <a:ext cx="685800" cy="685800"/>
          </a:xfrm>
          <a:prstGeom prst="ellipse">
            <a:avLst/>
          </a:prstGeom>
          <a:solidFill>
            <a:srgbClr val="23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8686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1">
                <a:solidFill>
                  <a:srgbClr val="30BECD"/>
                </a:solidFill>
                <a:latin typeface="Aptos"/>
              </a:rPr>
              <a:t>DEPARTMENT OF COMPUTER SCIENCE 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950976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3400" b="1">
                <a:solidFill>
                  <a:srgbClr val="F7F9FC"/>
                </a:solidFill>
                <a:latin typeface="Aptos"/>
              </a:rPr>
              <a:t>Syntax Error Analyzer
and Recovery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81381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800" b="0">
                <a:solidFill>
                  <a:srgbClr val="E1EAF5"/>
                </a:solidFill>
                <a:latin typeface="Aptos"/>
              </a:rPr>
              <a:t>A Compiler Design project for detecting, classifying and recovering from syntax errors in source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60520"/>
            <a:ext cx="914400" cy="54864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9875520" cy="6924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 dirty="0">
                <a:solidFill>
                  <a:srgbClr val="AEBED2"/>
                </a:solidFill>
                <a:latin typeface="Aptos"/>
              </a:rPr>
              <a:t>Team: Pasupuleti Sanjay  |  Bunga Rahul Reddy  |  Gurram Harini  |  </a:t>
            </a:r>
            <a:r>
              <a:rPr sz="1300" b="0" dirty="0" err="1">
                <a:solidFill>
                  <a:srgbClr val="AEBED2"/>
                </a:solidFill>
                <a:latin typeface="Aptos"/>
              </a:rPr>
              <a:t>Gunupuru</a:t>
            </a:r>
            <a:r>
              <a:rPr sz="1300" b="0" dirty="0">
                <a:solidFill>
                  <a:srgbClr val="AEBED2"/>
                </a:solidFill>
                <a:latin typeface="Aptos"/>
              </a:rPr>
              <a:t> Anusha
Guide: Dr. </a:t>
            </a:r>
            <a:r>
              <a:rPr lang="en-IN" sz="1300" dirty="0">
                <a:solidFill>
                  <a:srgbClr val="AEBED2"/>
                </a:solidFill>
                <a:latin typeface="Aptos"/>
              </a:rPr>
              <a:t>V. </a:t>
            </a:r>
            <a:r>
              <a:rPr lang="en-IN" sz="1300">
                <a:solidFill>
                  <a:srgbClr val="AEBED2"/>
                </a:solidFill>
                <a:latin typeface="Aptos"/>
              </a:rPr>
              <a:t>Anu Ragavi</a:t>
            </a:r>
            <a:r>
              <a:rPr sz="1300" b="0">
                <a:solidFill>
                  <a:srgbClr val="AEBED2"/>
                </a:solidFill>
                <a:latin typeface="Aptos"/>
              </a:rPr>
              <a:t>
</a:t>
            </a:r>
            <a:r>
              <a:rPr sz="1300" b="0" dirty="0">
                <a:solidFill>
                  <a:srgbClr val="AEBED2"/>
                </a:solidFill>
                <a:latin typeface="Aptos"/>
              </a:rPr>
              <a:t>Course: Project Evaluation (24CS2235F)  |  A.Y.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AEBED2"/>
                </a:solidFill>
                <a:latin typeface="Aptos"/>
              </a:rPr>
              <a:t>K L Deemed to be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800" b="1">
                <a:solidFill>
                  <a:srgbClr val="F7F9FC"/>
                </a:solidFill>
                <a:latin typeface="Aptos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822960" cy="50292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00200" y="859536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AEBED2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000" b="0">
                <a:solidFill>
                  <a:srgbClr val="F7F9FC"/>
                </a:solidFill>
                <a:latin typeface="Aptos"/>
              </a:rPr>
              <a:t>Syntax errors can prevent a program from being processed correctly. Traditional compiler messages may identify an error but often provide limited guidance about its cause and recovery.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429000" cy="233172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64008" cy="2331720"/>
          </a:xfrm>
          <a:prstGeom prst="rect">
            <a:avLst/>
          </a:prstGeom>
          <a:solidFill>
            <a:srgbClr val="28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88950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WHAT THE SYSTEM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10128"/>
            <a:ext cx="3063240" cy="1645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E1EAF5"/>
                </a:solidFill>
                <a:latin typeface="Aptos"/>
              </a:rPr>
              <a:t>Analyzes source code through lexical analysis and LL(1) predictive parsing.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429000" cy="233172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743200"/>
            <a:ext cx="64008" cy="2331720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88950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WHAT IT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310128"/>
            <a:ext cx="3063240" cy="1645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E1EAF5"/>
                </a:solidFill>
                <a:latin typeface="Aptos"/>
              </a:rPr>
              <a:t>Shows error type, line and position, expected token, detected token and a suggested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429000" cy="233172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2743200"/>
            <a:ext cx="64008" cy="2331720"/>
          </a:xfrm>
          <a:prstGeom prst="rect">
            <a:avLst/>
          </a:prstGeom>
          <a:solidFill>
            <a:srgbClr val="3FB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288950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WHY IT IS USEFUL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310128"/>
            <a:ext cx="3063240" cy="1645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E1EAF5"/>
                </a:solidFill>
                <a:latin typeface="Aptos"/>
              </a:rPr>
              <a:t>Uses recovery techniques to continue analyzing code after recoverable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AEBED2"/>
                </a:solidFill>
                <a:latin typeface="Aptos"/>
              </a:rPr>
              <a:t>Goal: make syntax errors easier to understand while demonstrating core Compiler Design techniques.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 b="0">
                <a:solidFill>
                  <a:srgbClr val="AEBED2"/>
                </a:solidFill>
                <a:latin typeface="Aptos"/>
              </a:rPr>
              <a:t>COMPILER DESIGN PROJECT  |  SYNTAX ERROR ANALYZER &amp; RECOVERY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AEBED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800" b="1">
                <a:solidFill>
                  <a:srgbClr val="F7F9FC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822960" cy="50292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00200" y="859536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AEBED2"/>
                </a:solidFill>
                <a:latin typeface="Aptos"/>
              </a:rPr>
              <a:t>Why is this system needed?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000" b="0">
                <a:solidFill>
                  <a:srgbClr val="F7F9FC"/>
                </a:solidFill>
                <a:latin typeface="Aptos"/>
              </a:rPr>
              <a:t>Programming errors are common during development. When source code contains syntax errors, a compiler may be unable to process it correctly.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3429000" cy="242316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64008" cy="2423160"/>
          </a:xfrm>
          <a:prstGeom prst="rect">
            <a:avLst/>
          </a:prstGeom>
          <a:solidFill>
            <a:srgbClr val="E0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66090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LIMITED 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081528"/>
            <a:ext cx="306324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E1EAF5"/>
                </a:solidFill>
                <a:latin typeface="Aptos"/>
              </a:rPr>
              <a:t>Error messages may not clearly explain the cause of a syntax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14600"/>
            <a:ext cx="3429000" cy="242316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514600"/>
            <a:ext cx="64008" cy="2423160"/>
          </a:xfrm>
          <a:prstGeom prst="rect">
            <a:avLst/>
          </a:prstGeom>
          <a:solidFill>
            <a:srgbClr val="EFB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66090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UNCLEAR 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081528"/>
            <a:ext cx="306324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E1EAF5"/>
                </a:solidFill>
                <a:latin typeface="Aptos"/>
              </a:rPr>
              <a:t>Learners need precise information about where an error occurs and what token was expected.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514600"/>
            <a:ext cx="3429000" cy="242316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2514600"/>
            <a:ext cx="64008" cy="2423160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266090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ANALYSIS STOPS EARLY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3081528"/>
            <a:ext cx="306324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E1EAF5"/>
                </a:solidFill>
                <a:latin typeface="Aptos"/>
              </a:rPr>
              <a:t>A parser may stop at the first error, making it harder to identify other issues in the program.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9496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E1EAF5"/>
                </a:solidFill>
                <a:latin typeface="Aptos"/>
              </a:rPr>
              <a:t>Problem to solve: detect syntax errors, identify their type and location, and continue analyzing the remaining code whenever recovery is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 b="0">
                <a:solidFill>
                  <a:srgbClr val="AEBED2"/>
                </a:solidFill>
                <a:latin typeface="Aptos"/>
              </a:rPr>
              <a:t>COMPILER DESIGN PROJECT  |  SYNTAX ERROR ANALYZER &amp; RECOVERY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AEBED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800" b="1">
                <a:solidFill>
                  <a:srgbClr val="F7F9FC"/>
                </a:solidFill>
                <a:latin typeface="Aptos"/>
              </a:rPr>
              <a:t>Existing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822960" cy="50292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00200" y="859536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AEBED2"/>
                </a:solidFill>
                <a:latin typeface="Aptos"/>
              </a:rPr>
              <a:t>Typical compiler syntax-error handling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361188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3611880"/>
          </a:xfrm>
          <a:prstGeom prst="rect">
            <a:avLst/>
          </a:prstGeom>
          <a:solidFill>
            <a:srgbClr val="28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63624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HOW IT GENERALLY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84248"/>
            <a:ext cx="4709159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0">
                <a:solidFill>
                  <a:srgbClr val="E1EAF5"/>
                </a:solidFill>
                <a:latin typeface="Aptos"/>
              </a:rPr>
              <a:t>• Reads and analyzes source code
• Detects a syntax error during parsing
• Displays an error message
• May stop or provide limited recovery
The exact behavior depends on the compiler and its implementation.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361188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3611880"/>
          </a:xfrm>
          <a:prstGeom prst="rect">
            <a:avLst/>
          </a:prstGeom>
          <a:solidFill>
            <a:srgbClr val="E0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563624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LIMITATIONS ADDRESSED BY OUR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84248"/>
            <a:ext cx="4709159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0">
                <a:solidFill>
                  <a:srgbClr val="E1EAF5"/>
                </a:solidFill>
                <a:latin typeface="Aptos"/>
              </a:rPr>
              <a:t>• Error cause may not be explained in detail
• Expected and actual tokens may not be shown together
• Multiple errors may be difficult to inspect
• Recovery behavior may not be visible to the learner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AEBED2"/>
                </a:solidFill>
                <a:latin typeface="Aptos"/>
              </a:rPr>
              <a:t>Note: These are general limitations motivating the project; behavior differs across existing compilers.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 b="0">
                <a:solidFill>
                  <a:srgbClr val="AEBED2"/>
                </a:solidFill>
                <a:latin typeface="Aptos"/>
              </a:rPr>
              <a:t>COMPILER DESIGN PROJECT  |  SYNTAX ERROR ANALYZER &amp; RECOVERY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AEBED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800" b="1">
                <a:solidFill>
                  <a:srgbClr val="F7F9FC"/>
                </a:solidFill>
                <a:latin typeface="Aptos"/>
              </a:rPr>
              <a:t>Our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822960" cy="50292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00200" y="859536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AEBED2"/>
                </a:solidFill>
                <a:latin typeface="Aptos"/>
              </a:rPr>
              <a:t>Syntax Error Analyzer and Recovery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900" b="0">
                <a:solidFill>
                  <a:srgbClr val="F7F9FC"/>
                </a:solidFill>
                <a:latin typeface="Aptos"/>
              </a:rPr>
              <a:t>A web-based tool that analyzes a simplified programming language and makes the parsing and recovery process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5074920" cy="132588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64008" cy="1325880"/>
          </a:xfrm>
          <a:prstGeom prst="rect">
            <a:avLst/>
          </a:prstGeom>
          <a:solidFill>
            <a:srgbClr val="28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386584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LEXICAL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807208"/>
            <a:ext cx="47091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400" b="0">
                <a:solidFill>
                  <a:srgbClr val="E1EAF5"/>
                </a:solidFill>
                <a:latin typeface="Aptos"/>
              </a:rPr>
              <a:t>Converts source code into tokens and records token positions.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40280"/>
            <a:ext cx="5074920" cy="132588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2240280"/>
            <a:ext cx="64008" cy="1325880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2386584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CFG + LL(1)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807208"/>
            <a:ext cx="47091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400" b="0">
                <a:solidFill>
                  <a:srgbClr val="E1EAF5"/>
                </a:solidFill>
                <a:latin typeface="Aptos"/>
              </a:rPr>
              <a:t>Checks token sequences using grammar rules and predictive parsing.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0480"/>
            <a:ext cx="5074920" cy="132588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840480"/>
            <a:ext cx="64008" cy="1325880"/>
          </a:xfrm>
          <a:prstGeom prst="rect">
            <a:avLst/>
          </a:prstGeom>
          <a:solidFill>
            <a:srgbClr val="EFB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986784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ERROR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407408"/>
            <a:ext cx="47091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400" b="0">
                <a:solidFill>
                  <a:srgbClr val="E1EAF5"/>
                </a:solidFill>
                <a:latin typeface="Aptos"/>
              </a:rPr>
              <a:t>Reports line, column, expected token, actual token and error type.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40480"/>
            <a:ext cx="5074920" cy="132588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840480"/>
            <a:ext cx="64008" cy="1325880"/>
          </a:xfrm>
          <a:prstGeom prst="rect">
            <a:avLst/>
          </a:prstGeom>
          <a:solidFill>
            <a:srgbClr val="3FB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986784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ERROR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407408"/>
            <a:ext cx="47091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400" b="0">
                <a:solidFill>
                  <a:srgbClr val="E1EAF5"/>
                </a:solidFill>
                <a:latin typeface="Aptos"/>
              </a:rPr>
              <a:t>Uses panic-mode and phrase-level recovery to continue parsing.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AEBED2"/>
                </a:solidFill>
                <a:latin typeface="Aptos"/>
              </a:rPr>
              <a:t>Output: valid sections, detected errors, recovery actions and an overall parse result.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 b="0">
                <a:solidFill>
                  <a:srgbClr val="AEBED2"/>
                </a:solidFill>
                <a:latin typeface="Aptos"/>
              </a:rPr>
              <a:t>COMPILER DESIGN PROJECT  |  SYNTAX ERROR ANALYZER &amp; RECOVERY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AEBED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800" b="1">
                <a:solidFill>
                  <a:srgbClr val="F7F9FC"/>
                </a:solidFill>
                <a:latin typeface="Aptos"/>
              </a:rP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822960" cy="50292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00200" y="859536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AEBED2"/>
                </a:solidFill>
                <a:latin typeface="Aptos"/>
              </a:rPr>
              <a:t>End-to-end processing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463039"/>
            <a:ext cx="457200" cy="457200"/>
          </a:xfrm>
          <a:prstGeom prst="ellipse">
            <a:avLst/>
          </a:prstGeom>
          <a:solidFill>
            <a:srgbClr val="28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527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F1B30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65960"/>
            <a:ext cx="1536192" cy="1417320"/>
          </a:xfrm>
          <a:prstGeom prst="roundRect">
            <a:avLst/>
          </a:prstGeom>
          <a:solidFill>
            <a:srgbClr val="17263C"/>
          </a:solidFill>
          <a:ln>
            <a:solidFill>
              <a:srgbClr val="37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2313432"/>
            <a:ext cx="1389888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7F9FC"/>
                </a:solidFill>
                <a:latin typeface="Aptos"/>
              </a:rPr>
              <a:t>Source Code
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1388" y="2532888"/>
            <a:ext cx="1463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0BECD"/>
                </a:solidFill>
                <a:latin typeface="Aptos"/>
              </a:rPr>
              <a:t>›</a:t>
            </a:r>
          </a:p>
        </p:txBody>
      </p:sp>
      <p:sp>
        <p:nvSpPr>
          <p:cNvPr id="10" name="Oval 9"/>
          <p:cNvSpPr/>
          <p:nvPr/>
        </p:nvSpPr>
        <p:spPr>
          <a:xfrm>
            <a:off x="2642616" y="1463039"/>
            <a:ext cx="457200" cy="457200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42616" y="1527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F1B30"/>
                </a:solidFill>
                <a:latin typeface="Aptos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2264" y="1965960"/>
            <a:ext cx="1536192" cy="1417320"/>
          </a:xfrm>
          <a:prstGeom prst="roundRect">
            <a:avLst/>
          </a:prstGeom>
          <a:solidFill>
            <a:srgbClr val="17263C"/>
          </a:solidFill>
          <a:ln>
            <a:solidFill>
              <a:srgbClr val="37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85416" y="2313432"/>
            <a:ext cx="1389888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7F9FC"/>
                </a:solidFill>
                <a:latin typeface="Aptos"/>
              </a:rPr>
              <a:t>Lexical
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172" y="2532888"/>
            <a:ext cx="1463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0BECD"/>
                </a:solidFill>
                <a:latin typeface="Aptos"/>
              </a:rPr>
              <a:t>›</a:t>
            </a:r>
          </a:p>
        </p:txBody>
      </p:sp>
      <p:sp>
        <p:nvSpPr>
          <p:cNvPr id="15" name="Oval 14"/>
          <p:cNvSpPr/>
          <p:nvPr/>
        </p:nvSpPr>
        <p:spPr>
          <a:xfrm>
            <a:off x="4343400" y="1463039"/>
            <a:ext cx="457200" cy="457200"/>
          </a:xfrm>
          <a:prstGeom prst="ellipse">
            <a:avLst/>
          </a:prstGeom>
          <a:solidFill>
            <a:srgbClr val="28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1527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F1B30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3048" y="1965960"/>
            <a:ext cx="1536192" cy="1417320"/>
          </a:xfrm>
          <a:prstGeom prst="roundRect">
            <a:avLst/>
          </a:prstGeom>
          <a:solidFill>
            <a:srgbClr val="17263C"/>
          </a:solidFill>
          <a:ln>
            <a:solidFill>
              <a:srgbClr val="37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2313432"/>
            <a:ext cx="1389888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7F9FC"/>
                </a:solidFill>
                <a:latin typeface="Aptos"/>
              </a:rPr>
              <a:t>CFG &amp;
Grammar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955" y="2532888"/>
            <a:ext cx="1463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0BECD"/>
                </a:solidFill>
                <a:latin typeface="Aptos"/>
              </a:rPr>
              <a:t>›</a:t>
            </a:r>
          </a:p>
        </p:txBody>
      </p:sp>
      <p:sp>
        <p:nvSpPr>
          <p:cNvPr id="20" name="Oval 19"/>
          <p:cNvSpPr/>
          <p:nvPr/>
        </p:nvSpPr>
        <p:spPr>
          <a:xfrm>
            <a:off x="6044184" y="1463039"/>
            <a:ext cx="457200" cy="457200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44184" y="1527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F1B30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13832" y="1965960"/>
            <a:ext cx="1536192" cy="1417320"/>
          </a:xfrm>
          <a:prstGeom prst="roundRect">
            <a:avLst/>
          </a:prstGeom>
          <a:solidFill>
            <a:srgbClr val="17263C"/>
          </a:solidFill>
          <a:ln>
            <a:solidFill>
              <a:srgbClr val="37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86984" y="2313432"/>
            <a:ext cx="1389888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7F9FC"/>
                </a:solidFill>
                <a:latin typeface="Aptos"/>
              </a:rPr>
              <a:t>LL(1)
Parsing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3740" y="2532888"/>
            <a:ext cx="1463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0BECD"/>
                </a:solidFill>
                <a:latin typeface="Aptos"/>
              </a:rPr>
              <a:t>›</a:t>
            </a:r>
          </a:p>
        </p:txBody>
      </p:sp>
      <p:sp>
        <p:nvSpPr>
          <p:cNvPr id="25" name="Oval 24"/>
          <p:cNvSpPr/>
          <p:nvPr/>
        </p:nvSpPr>
        <p:spPr>
          <a:xfrm>
            <a:off x="7744967" y="1463039"/>
            <a:ext cx="457200" cy="457200"/>
          </a:xfrm>
          <a:prstGeom prst="ellipse">
            <a:avLst/>
          </a:prstGeom>
          <a:solidFill>
            <a:srgbClr val="EFB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44967" y="1527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F1B30"/>
                </a:solidFill>
                <a:latin typeface="Aptos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14616" y="1965960"/>
            <a:ext cx="1536192" cy="1417320"/>
          </a:xfrm>
          <a:prstGeom prst="roundRect">
            <a:avLst/>
          </a:prstGeom>
          <a:solidFill>
            <a:srgbClr val="17263C"/>
          </a:solidFill>
          <a:ln>
            <a:solidFill>
              <a:srgbClr val="37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87768" y="2313432"/>
            <a:ext cx="1389888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7F9FC"/>
                </a:solidFill>
                <a:latin typeface="Aptos"/>
              </a:rPr>
              <a:t>Error Detection
&amp;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4524" y="2532888"/>
            <a:ext cx="1463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0BECD"/>
                </a:solidFill>
                <a:latin typeface="Aptos"/>
              </a:rPr>
              <a:t>›</a:t>
            </a:r>
          </a:p>
        </p:txBody>
      </p:sp>
      <p:sp>
        <p:nvSpPr>
          <p:cNvPr id="30" name="Oval 29"/>
          <p:cNvSpPr/>
          <p:nvPr/>
        </p:nvSpPr>
        <p:spPr>
          <a:xfrm>
            <a:off x="9445751" y="1463039"/>
            <a:ext cx="457200" cy="457200"/>
          </a:xfrm>
          <a:prstGeom prst="ellipse">
            <a:avLst/>
          </a:prstGeom>
          <a:solidFill>
            <a:srgbClr val="3FB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45751" y="1527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F1B30"/>
                </a:solidFill>
                <a:latin typeface="Aptos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399" y="1965960"/>
            <a:ext cx="1536192" cy="1417320"/>
          </a:xfrm>
          <a:prstGeom prst="roundRect">
            <a:avLst/>
          </a:prstGeom>
          <a:solidFill>
            <a:srgbClr val="17263C"/>
          </a:solidFill>
          <a:ln>
            <a:solidFill>
              <a:srgbClr val="37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88551" y="2313432"/>
            <a:ext cx="1389888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7F9FC"/>
                </a:solidFill>
                <a:latin typeface="Aptos"/>
              </a:rPr>
              <a:t>Error Recovery
(Panic / Phrase)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5307" y="2532888"/>
            <a:ext cx="1463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0BECD"/>
                </a:solidFill>
                <a:latin typeface="Aptos"/>
              </a:rPr>
              <a:t>›</a:t>
            </a:r>
          </a:p>
        </p:txBody>
      </p:sp>
      <p:sp>
        <p:nvSpPr>
          <p:cNvPr id="35" name="Oval 34"/>
          <p:cNvSpPr/>
          <p:nvPr/>
        </p:nvSpPr>
        <p:spPr>
          <a:xfrm>
            <a:off x="11146536" y="1463039"/>
            <a:ext cx="457200" cy="457200"/>
          </a:xfrm>
          <a:prstGeom prst="ellipse">
            <a:avLst/>
          </a:prstGeom>
          <a:solidFill>
            <a:srgbClr val="28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46536" y="1527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F1B30"/>
                </a:solidFill>
                <a:latin typeface="Aptos"/>
              </a:rPr>
              <a:t>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16184" y="1965960"/>
            <a:ext cx="1536192" cy="1417320"/>
          </a:xfrm>
          <a:prstGeom prst="roundRect">
            <a:avLst/>
          </a:prstGeom>
          <a:solidFill>
            <a:srgbClr val="17263C"/>
          </a:solidFill>
          <a:ln>
            <a:solidFill>
              <a:srgbClr val="37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689336" y="2313432"/>
            <a:ext cx="1389888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7F9FC"/>
                </a:solidFill>
                <a:latin typeface="Aptos"/>
              </a:rPr>
              <a:t>Parse Result
&amp; 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251960"/>
            <a:ext cx="4983480" cy="114300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2960" y="4251960"/>
            <a:ext cx="64008" cy="1143000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24128" y="4398264"/>
            <a:ext cx="4617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PARSING DETAILS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" y="4818888"/>
            <a:ext cx="4617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E1EAF5"/>
                </a:solidFill>
                <a:latin typeface="Aptos"/>
              </a:rPr>
              <a:t>FIRST and FOLLOW sets support construction of the LL(1) parsing table.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4251960"/>
            <a:ext cx="4983480" cy="114300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55080" y="4251960"/>
            <a:ext cx="64008" cy="1143000"/>
          </a:xfrm>
          <a:prstGeom prst="rect">
            <a:avLst/>
          </a:prstGeom>
          <a:solidFill>
            <a:srgbClr val="3FB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56248" y="4398264"/>
            <a:ext cx="4617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RECOVERY DETAILS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6248" y="4818888"/>
            <a:ext cx="4617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E1EAF5"/>
                </a:solidFill>
                <a:latin typeface="Aptos"/>
              </a:rPr>
              <a:t>After a recoverable error, parsing resumes at a suitable synchronization point or after a local correction.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 b="0">
                <a:solidFill>
                  <a:srgbClr val="AEBED2"/>
                </a:solidFill>
                <a:latin typeface="Aptos"/>
              </a:rPr>
              <a:t>COMPILER DESIGN PROJECT  |  SYNTAX ERROR ANALYZER &amp; RECOVERY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AEBED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800" b="1">
                <a:solidFill>
                  <a:srgbClr val="F7F9FC"/>
                </a:solidFill>
                <a:latin typeface="Aptos"/>
              </a:rPr>
              <a:t>Existing System vs Our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822960" cy="50292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00200" y="859536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AEBED2"/>
                </a:solidFill>
                <a:latin typeface="Aptos"/>
              </a:rPr>
              <a:t>Key differences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108356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Aspect</a:t>
                      </a:r>
                    </a:p>
                  </a:txBody>
                  <a:tcPr marL="109728" marT="73152" marB="54864">
                    <a:solidFill>
                      <a:srgbClr val="2868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Typical existing compiler behavior</a:t>
                      </a:r>
                    </a:p>
                  </a:txBody>
                  <a:tcPr marL="109728" marT="73152" marB="54864">
                    <a:solidFill>
                      <a:srgbClr val="2868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Our proposed system</a:t>
                      </a:r>
                    </a:p>
                  </a:txBody>
                  <a:tcPr marL="109728" marT="73152" marB="54864">
                    <a:solidFill>
                      <a:srgbClr val="2868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Error message</a:t>
                      </a:r>
                    </a:p>
                  </a:txBody>
                  <a:tcPr marL="109728" marT="73152" marB="54864">
                    <a:solidFill>
                      <a:srgbClr val="17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May provide a brief syntax error message</a:t>
                      </a:r>
                    </a:p>
                  </a:txBody>
                  <a:tcPr marL="109728" marT="73152" marB="54864">
                    <a:solidFill>
                      <a:srgbClr val="17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Provides type, line, column, expected and actual token</a:t>
                      </a:r>
                    </a:p>
                  </a:txBody>
                  <a:tcPr marL="109728" marT="73152" marB="54864">
                    <a:solidFill>
                      <a:srgbClr val="1726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Error explanation</a:t>
                      </a:r>
                    </a:p>
                  </a:txBody>
                  <a:tcPr marL="109728" marT="73152" marB="54864">
                    <a:solidFill>
                      <a:srgbClr val="1D2F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May offer limited explanation</a:t>
                      </a:r>
                    </a:p>
                  </a:txBody>
                  <a:tcPr marL="109728" marT="73152" marB="54864">
                    <a:solidFill>
                      <a:srgbClr val="1D2F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Adds a simple explanation and suggested correction</a:t>
                      </a:r>
                    </a:p>
                  </a:txBody>
                  <a:tcPr marL="109728" marT="73152" marB="54864">
                    <a:solidFill>
                      <a:srgbClr val="1D2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Parsing visibility</a:t>
                      </a:r>
                    </a:p>
                  </a:txBody>
                  <a:tcPr marL="109728" marT="73152" marB="54864">
                    <a:solidFill>
                      <a:srgbClr val="17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Internal parsing steps are usually hidden</a:t>
                      </a:r>
                    </a:p>
                  </a:txBody>
                  <a:tcPr marL="109728" marT="73152" marB="54864">
                    <a:solidFill>
                      <a:srgbClr val="17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Shows tokens, parsing stack and parsing actions</a:t>
                      </a:r>
                    </a:p>
                  </a:txBody>
                  <a:tcPr marL="109728" marT="73152" marB="54864">
                    <a:solidFill>
                      <a:srgbClr val="1726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Error recovery</a:t>
                      </a:r>
                    </a:p>
                  </a:txBody>
                  <a:tcPr marL="109728" marT="73152" marB="54864">
                    <a:solidFill>
                      <a:srgbClr val="1D2F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Depends on compiler implementation</a:t>
                      </a:r>
                    </a:p>
                  </a:txBody>
                  <a:tcPr marL="109728" marT="73152" marB="54864">
                    <a:solidFill>
                      <a:srgbClr val="1D2F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Demonstrates panic-mode and phrase-level recovery</a:t>
                      </a:r>
                    </a:p>
                  </a:txBody>
                  <a:tcPr marL="109728" marT="73152" marB="54864">
                    <a:solidFill>
                      <a:srgbClr val="1D2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Multiple errors</a:t>
                      </a:r>
                    </a:p>
                  </a:txBody>
                  <a:tcPr marL="109728" marT="73152" marB="54864">
                    <a:solidFill>
                      <a:srgbClr val="17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May stop or report errors according to its strategy</a:t>
                      </a:r>
                    </a:p>
                  </a:txBody>
                  <a:tcPr marL="109728" marT="73152" marB="54864">
                    <a:solidFill>
                      <a:srgbClr val="1726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1EAF5"/>
                          </a:solidFill>
                          <a:latin typeface="Aptos"/>
                        </a:defRPr>
                      </a:pPr>
                      <a:r>
                        <a:t>Attempts to continue after recoverable errors</a:t>
                      </a:r>
                    </a:p>
                  </a:txBody>
                  <a:tcPr marL="109728" marT="73152" marB="54864">
                    <a:solidFill>
                      <a:srgbClr val="1726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AEBED2"/>
                </a:solidFill>
                <a:latin typeface="Aptos"/>
              </a:rPr>
              <a:t>Our focus is educational transparency: showing how errors are found and how recovery proceeds.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 b="0">
                <a:solidFill>
                  <a:srgbClr val="AEBED2"/>
                </a:solidFill>
                <a:latin typeface="Aptos"/>
              </a:rPr>
              <a:t>COMPILER DESIGN PROJECT  |  SYNTAX ERROR ANALYZER &amp; RECOVERY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AEBED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800" b="1">
                <a:solidFill>
                  <a:srgbClr val="F7F9FC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822960" cy="50292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00200" y="859536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AEBED2"/>
                </a:solidFill>
                <a:latin typeface="Aptos"/>
              </a:rPr>
              <a:t>Project outcome and possible extensions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434340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4343400"/>
          </a:xfrm>
          <a:prstGeom prst="rect">
            <a:avLst/>
          </a:prstGeom>
          <a:solidFill>
            <a:srgbClr val="3FB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63624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84248"/>
            <a:ext cx="4709159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E1EAF5"/>
                </a:solidFill>
                <a:latin typeface="Aptos"/>
              </a:rPr>
              <a:t>• Applies lexical analysis, CFG and LL(1) predictive parsing.
• Identifies common syntax errors such as missing semicolons, unmatched brackets and unexpected tokens.
• Reports useful details, including source location and expected token.
• Uses recovery techniques to continue analysis after recoverable errors.
• Demonstrates practical Compiler Design concepts in an interactive tool.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17263C"/>
          </a:solidFill>
          <a:ln>
            <a:solidFill>
              <a:srgbClr val="2F4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4343400"/>
          </a:xfrm>
          <a:prstGeom prst="rect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563624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F7F9FC"/>
                </a:solidFill>
                <a:latin typeface="Aptos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84248"/>
            <a:ext cx="4709159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E1EAF5"/>
                </a:solidFill>
                <a:latin typeface="Aptos"/>
              </a:rPr>
              <a:t>• Support more programming-language constructs and grammar rules.
• Improve error suggestions with context-aware correction techniques.
• Add more parsing methods, such as LR parsing, for comparison.
• Provide downloadable reports and richer code-editor support.
• Evaluate detection and recovery performance using larger test programs.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89320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7F9FC"/>
                </a:solidFill>
                <a:latin typeface="Aptos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 b="0">
                <a:solidFill>
                  <a:srgbClr val="AEBED2"/>
                </a:solidFill>
                <a:latin typeface="Aptos"/>
              </a:rPr>
              <a:t>COMPILER DESIGN PROJECT  |  SYNTAX ERROR ANALYZER &amp; RECOVERY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AEBED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918</Words>
  <Application>Microsoft Office PowerPoint</Application>
  <PresentationFormat>Widescreen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sanjay pasupuleti</cp:lastModifiedBy>
  <cp:revision>2</cp:revision>
  <dcterms:created xsi:type="dcterms:W3CDTF">2013-01-27T09:14:16Z</dcterms:created>
  <dcterms:modified xsi:type="dcterms:W3CDTF">2026-10-30T08:20:47Z</dcterms:modified>
  <cp:category/>
</cp:coreProperties>
</file>